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3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652" y="-68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999" cy="42804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5999" cy="4140000"/>
          </a:xfrm>
          <a:prstGeom prst="rect">
            <a:avLst/>
          </a:prstGeom>
          <a:solidFill>
            <a:srgbClr val="2A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503999"/>
            <a:ext cx="23760000" cy="72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C2A9DF"/>
                </a:solidFill>
                <a:latin typeface="Consolas"/>
              </a:rPr>
              <a:t>GPU-NATIVE COASTAL &amp; ESTUARINE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080000"/>
            <a:ext cx="23760000" cy="180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Rakali: a portable, GPU-first solver for coastal seas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951999"/>
            <a:ext cx="23760000" cy="864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CDC2E2"/>
                </a:solidFill>
                <a:latin typeface="Calibri"/>
              </a:rPr>
              <a:t>Jorge Luis Gálvez Vallejo  ·  [co-authors]      NCI · ANU  ·  [affils]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0" y="720000"/>
            <a:ext cx="3960000" cy="252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[CONFERENCE]
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CDC2E2"/>
                </a:solidFill>
                <a:latin typeface="Calibri"/>
              </a:rPr>
              <a:t>[session · date]
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CDC2E2"/>
                </a:solidFill>
                <a:latin typeface="Calibri"/>
              </a:rPr>
              <a:t>jorge.galvezvallejo@anu.edu.au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4860000"/>
            <a:ext cx="8892000" cy="612000"/>
          </a:xfrm>
          <a:prstGeom prst="rect">
            <a:avLst/>
          </a:prstGeom>
          <a:solidFill>
            <a:srgbClr val="50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4000" y="4842000"/>
            <a:ext cx="8676000" cy="64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onsolas"/>
              </a:rPr>
              <a:t>WHAT IS RAKALI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5724000"/>
            <a:ext cx="8892000" cy="17280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6000" y="5868000"/>
            <a:ext cx="8460000" cy="57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503874"/>
                </a:solidFill>
                <a:latin typeface="Calibri"/>
              </a:rPr>
              <a:t>One solver, every device.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6000" y="6408000"/>
            <a:ext cx="8460000" cy="1007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50" b="0">
                <a:solidFill>
                  <a:srgbClr val="1C1A22"/>
                </a:solidFill>
                <a:latin typeface="Calibri"/>
              </a:rPr>
              <a:t>A single Fortran source on NVIDIA + AMD GPUs and multicore CPUs — do concurrent for compute, OpenACC for data movement. No second code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7703999"/>
            <a:ext cx="8892000" cy="17280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6000" y="7847999"/>
            <a:ext cx="8460000" cy="57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503874"/>
                </a:solidFill>
                <a:latin typeface="Calibri"/>
              </a:rPr>
              <a:t>Built for the coast.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6000" y="8387999"/>
            <a:ext cx="8460000" cy="1007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50" b="0">
                <a:solidFill>
                  <a:srgbClr val="1C1A22"/>
                </a:solidFill>
                <a:latin typeface="Calibri"/>
              </a:rPr>
              <a:t>Structured Cartesian + unstructured triangular grids; tides, wetting/drying, rivers, real bathymetry — 2D barotropic to 3D multilayer.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9684000"/>
            <a:ext cx="8892000" cy="17280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96000" y="9827999"/>
            <a:ext cx="8460000" cy="57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503874"/>
                </a:solidFill>
                <a:latin typeface="Calibri"/>
              </a:rPr>
              <a:t>Driven from Python.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6000" y="10367999"/>
            <a:ext cx="8460000" cy="1007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50" b="0">
                <a:solidFill>
                  <a:srgbClr val="1C1A22"/>
                </a:solidFill>
                <a:latin typeface="Calibri"/>
              </a:rPr>
              <a:t>Opaque-handle iso_c_binding API with zero-copy NumPy views: set bathymetry, force, step, read fields live. MPI automatic.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11736000"/>
            <a:ext cx="8892000" cy="36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C1A22"/>
                </a:solidFill>
                <a:latin typeface="Calibri"/>
              </a:rPr>
              <a:t>Run a whole study from a script:</a:t>
            </a:r>
          </a:p>
        </p:txBody>
      </p:sp>
      <p:pic>
        <p:nvPicPr>
          <p:cNvPr id="20" name="Picture 19" descr="fig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2204000"/>
            <a:ext cx="8892000" cy="45038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0000" y="16797890"/>
            <a:ext cx="8892000" cy="503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5C5766"/>
                </a:solidFill>
                <a:latin typeface="Calibri"/>
              </a:rPr>
              <a:t>Spin up the tide → save a restart → branch a sea-level-rise + surge scenario → read xarray. Solver stays on the GPU.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2000" y="4860000"/>
            <a:ext cx="8892000" cy="612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36000" y="4842000"/>
            <a:ext cx="8676000" cy="64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onsolas"/>
              </a:rPr>
              <a:t>THE RESULT — LAKE'S ENTRANCE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2000" y="5760000"/>
            <a:ext cx="8892000" cy="1152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2400" b="1">
                <a:solidFill>
                  <a:srgbClr val="1C1A22"/>
                </a:solidFill>
                <a:latin typeface="Calibri"/>
              </a:rPr>
              <a:t>Raise the sea, watch the estuary answer — 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2400" b="1">
                <a:solidFill>
                  <a:srgbClr val="D85A30"/>
                </a:solidFill>
                <a:latin typeface="Calibri"/>
              </a:rPr>
              <a:t>in 3D, on one GPU.</a:t>
            </a:r>
          </a:p>
        </p:txBody>
      </p:sp>
      <p:pic>
        <p:nvPicPr>
          <p:cNvPr id="25" name="Picture 24" descr="fig_se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000" y="7272000"/>
            <a:ext cx="8892000" cy="6916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692000" y="14278000"/>
            <a:ext cx="8892000" cy="503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5C5766"/>
                </a:solidFill>
                <a:latin typeface="Calibri"/>
              </a:rPr>
              <a:t>(a) Lake's Entrance — real 30 m bathymetry; ocean inlet to Bass Strait, brackish Gippsland Lakes.</a:t>
            </a:r>
          </a:p>
        </p:txBody>
      </p:sp>
      <p:pic>
        <p:nvPicPr>
          <p:cNvPr id="27" name="Picture 26" descr="fig_slr_su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000" y="14944000"/>
            <a:ext cx="8892000" cy="3283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692000" y="18317200"/>
            <a:ext cx="8892000" cy="503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5C5766"/>
                </a:solidFill>
                <a:latin typeface="Calibri"/>
              </a:rPr>
              <a:t>(b) Coastal water level under tide, +1 m SLR, and +1 m + storm surge (left); peak land flooded vs SLR (right).</a:t>
            </a:r>
          </a:p>
        </p:txBody>
      </p:sp>
      <p:pic>
        <p:nvPicPr>
          <p:cNvPr id="29" name="Picture 28" descr="fig_stratif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2000" y="18983200"/>
            <a:ext cx="8892000" cy="328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92000" y="22356400"/>
            <a:ext cx="8892000" cy="503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5C5766"/>
                </a:solidFill>
                <a:latin typeface="Calibri"/>
              </a:rPr>
              <a:t>(c) 3D salt wedge — 8 σ-layers, k-ε mixing: ocean water intrudes along the bed beneath fresher surface water.</a:t>
            </a:r>
          </a:p>
        </p:txBody>
      </p:sp>
      <p:pic>
        <p:nvPicPr>
          <p:cNvPr id="31" name="Picture 30" descr="le_slr_ma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2000" y="23022400"/>
            <a:ext cx="8892000" cy="965064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692000" y="32763042"/>
            <a:ext cx="8892000" cy="503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5C5766"/>
                </a:solidFill>
                <a:latin typeface="Calibri"/>
              </a:rPr>
              <a:t>Peak inundation on land across sea-level-rise scenarios (water teal, land grey, flooding warm).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584000" y="4860000"/>
            <a:ext cx="8892000" cy="612000"/>
          </a:xfrm>
          <a:prstGeom prst="rect">
            <a:avLst/>
          </a:prstGeom>
          <a:solidFill>
            <a:srgbClr val="50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728000" y="4842000"/>
            <a:ext cx="8676000" cy="64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onsolas"/>
              </a:rPr>
              <a:t>PERFORMANCE — ONE 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84000" y="5760000"/>
            <a:ext cx="8892000" cy="792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C1A22"/>
                </a:solidFill>
                <a:latin typeface="Calibri"/>
              </a:rPr>
              <a:t>Memory-bandwidth-bound: throughput tracks the hardware. One do concurrent source, near roofline on every device.</a:t>
            </a:r>
          </a:p>
        </p:txBody>
      </p:sp>
      <p:pic>
        <p:nvPicPr>
          <p:cNvPr id="36" name="Picture 35" descr="fig_strong_scal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84000" y="6840000"/>
            <a:ext cx="4302000" cy="3898688"/>
          </a:xfrm>
          <a:prstGeom prst="rect">
            <a:avLst/>
          </a:prstGeom>
        </p:spPr>
      </p:pic>
      <p:pic>
        <p:nvPicPr>
          <p:cNvPr id="37" name="Picture 36" descr="fig_speed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73999" y="6840000"/>
            <a:ext cx="4302000" cy="4158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9584000" y="11232000"/>
            <a:ext cx="8892000" cy="503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5C5766"/>
                </a:solidFill>
                <a:latin typeface="Calibri"/>
              </a:rPr>
              <a:t>Strong scaling (V100 87% / H200 69% at 4 GPUs) · speedup over a 104-core CPU node (4×H200 = 12.7×).</a:t>
            </a:r>
          </a:p>
        </p:txBody>
      </p:sp>
      <p:pic>
        <p:nvPicPr>
          <p:cNvPr id="39" name="Picture 38" descr="fig_performa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84000" y="11897999"/>
            <a:ext cx="8892000" cy="329333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9584000" y="15281333"/>
            <a:ext cx="8892000" cy="503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5C5766"/>
                </a:solidFill>
                <a:latin typeface="Calibri"/>
              </a:rPr>
              <a:t>Throughput vs memory bandwidth — CPU and V100 on the same roofline; H200 has headroom.</a:t>
            </a:r>
          </a:p>
        </p:txBody>
      </p:sp>
      <p:pic>
        <p:nvPicPr>
          <p:cNvPr id="41" name="Picture 40" descr="fig_5m_feasibil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4000" y="15983333"/>
            <a:ext cx="8892000" cy="444868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9584000" y="20522016"/>
            <a:ext cx="8892000" cy="503999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5C5766"/>
                </a:solidFill>
                <a:latin typeface="Calibri"/>
              </a:rPr>
              <a:t>A 5 m (5 M-cell) Lake's Entrance: 30-day spin-up overnight on 4×V100, an afternoon on 4×H200.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584000" y="21296016"/>
            <a:ext cx="8892000" cy="3420000"/>
          </a:xfrm>
          <a:prstGeom prst="rect">
            <a:avLst/>
          </a:prstGeom>
          <a:solidFill>
            <a:srgbClr val="ECE6F3"/>
          </a:solidFill>
          <a:ln w="25400">
            <a:solidFill>
              <a:srgbClr val="503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800000" y="21476016"/>
            <a:ext cx="8460000" cy="57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503874"/>
                </a:solidFill>
                <a:latin typeface="Calibri"/>
              </a:rPr>
              <a:t>Conclusions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00000" y="22052016"/>
            <a:ext cx="8460000" cy="2592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>
                <a:solidFill>
                  <a:srgbClr val="1C1A22"/>
                </a:solidFill>
                <a:latin typeface="Calibri"/>
              </a:rPr>
              <a:t>Rakali brings GPU-native performance to 3D coastal modelling without sacrificing portability or scriptability. One source runs near memory-roofline on CPU, V100 and H200; 4 GPUs deliver 5–13× a full CPU node at 88% (V100) scaling efficiency. The Lake's Entrance sea-level + surge experiments run fast enough to make scenario exploration routine — driven entirely from Python.  [Further physics &amp; validation underway.]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1544000"/>
            <a:ext cx="30275999" cy="12600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000" y="41760000"/>
            <a:ext cx="19800000" cy="864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5C5766"/>
                </a:solidFill>
                <a:latin typeface="Calibri"/>
              </a:rPr>
              <a:t>Figures illustrative (interpolated DEM, idealised forcing).  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C1A22"/>
                </a:solidFill>
                <a:latin typeface="Calibri"/>
              </a:rPr>
              <a:t>Code + figures: [repo / paper QR]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320000" y="41760000"/>
            <a:ext cx="7200000" cy="864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C1A22"/>
                </a:solidFill>
                <a:latin typeface="Calibri"/>
              </a:rPr>
              <a:t>Jorge L. Gálvez Vallejo · NCI · ANU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7D0780-F68C-1FF8-0CF5-B9529D071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6608" y="15942314"/>
            <a:ext cx="7575819" cy="3790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E3B032-2D36-4C49-18A6-D7A81FD5F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1944" y="20366224"/>
            <a:ext cx="6583693" cy="5120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7789B5-001E-2E94-5D09-B8B940679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996" y="10992452"/>
            <a:ext cx="11887224" cy="43891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BDCD14-62A8-8A8A-345E-5E4629736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994" y="18642952"/>
            <a:ext cx="5486411" cy="53035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285F39-9DC3-C1AA-7AD8-9E494CEABA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4994" y="28909932"/>
            <a:ext cx="11887224" cy="43891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06D8BDB-D886-2F05-94E7-72E9617CB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111" y="23171085"/>
            <a:ext cx="5852172" cy="53035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81881FA-57E1-57D7-E4BA-0603C5FF70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4691" y="24305043"/>
            <a:ext cx="11430991" cy="42066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AAF0BA2-E2D9-A40A-92D1-48C7015149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4878" y="8152920"/>
            <a:ext cx="10973751" cy="38408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616E025-913E-C692-4AD8-6747CFAE5E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70335" y="8597579"/>
            <a:ext cx="7681626" cy="833700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99EA957-0AF5-FAE1-B8E5-E42951AFBB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958885" y="17096774"/>
            <a:ext cx="10059272" cy="54868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B6C681-22E4-CCCA-E94D-28B364DB34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03241" y="12854097"/>
            <a:ext cx="9144792" cy="640135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0E4F1C6-0BC1-3159-33F6-BFEA46504B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01236" y="7235775"/>
            <a:ext cx="11888230" cy="82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7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682B-07CC-6453-5319-E3B6F775E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A956A0-13E5-1522-1D59-BE013D9FE763}"/>
              </a:ext>
            </a:extLst>
          </p:cNvPr>
          <p:cNvSpPr/>
          <p:nvPr/>
        </p:nvSpPr>
        <p:spPr>
          <a:xfrm>
            <a:off x="-20986" y="0"/>
            <a:ext cx="30275999" cy="42804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35198-F12D-EFFA-112B-560FA3589411}"/>
              </a:ext>
            </a:extLst>
          </p:cNvPr>
          <p:cNvSpPr/>
          <p:nvPr/>
        </p:nvSpPr>
        <p:spPr>
          <a:xfrm>
            <a:off x="-20986" y="0"/>
            <a:ext cx="30386285" cy="4139999"/>
          </a:xfrm>
          <a:prstGeom prst="rect">
            <a:avLst/>
          </a:prstGeom>
          <a:solidFill>
            <a:srgbClr val="2A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4A475-53FE-46C8-93C3-BC39B686A969}"/>
              </a:ext>
            </a:extLst>
          </p:cNvPr>
          <p:cNvSpPr txBox="1"/>
          <p:nvPr/>
        </p:nvSpPr>
        <p:spPr>
          <a:xfrm>
            <a:off x="1080000" y="503999"/>
            <a:ext cx="23760000" cy="751094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4400" b="1" dirty="0">
                <a:solidFill>
                  <a:srgbClr val="C2A9DF"/>
                </a:solidFill>
                <a:latin typeface="Consolas"/>
              </a:rPr>
              <a:t>RAKALI</a:t>
            </a:r>
            <a:endParaRPr sz="4400" b="1" dirty="0">
              <a:solidFill>
                <a:srgbClr val="C2A9DF"/>
              </a:solidFill>
              <a:latin typeface="Consola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103D3-D161-C683-6803-E6D81F524DC5}"/>
              </a:ext>
            </a:extLst>
          </p:cNvPr>
          <p:cNvSpPr txBox="1"/>
          <p:nvPr/>
        </p:nvSpPr>
        <p:spPr>
          <a:xfrm>
            <a:off x="1080000" y="1080000"/>
            <a:ext cx="18617700" cy="1782467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5400" b="1" dirty="0">
                <a:solidFill>
                  <a:srgbClr val="FFFFFF"/>
                </a:solidFill>
                <a:latin typeface="Calibri"/>
              </a:rPr>
              <a:t>Accelerating Coastal Simulations using GPUs: Flooding hazards from tidal and mean-sea level changes at Lakes Entrance</a:t>
            </a:r>
            <a:endParaRPr sz="5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0BFD6-F746-070B-4535-95862C69DB43}"/>
              </a:ext>
            </a:extLst>
          </p:cNvPr>
          <p:cNvSpPr txBox="1"/>
          <p:nvPr/>
        </p:nvSpPr>
        <p:spPr>
          <a:xfrm>
            <a:off x="1080000" y="2951999"/>
            <a:ext cx="23760000" cy="382788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AU" sz="2000" b="0" dirty="0">
                <a:solidFill>
                  <a:srgbClr val="CDC2E2"/>
                </a:solidFill>
                <a:latin typeface="Calibri"/>
              </a:rPr>
              <a:t>J</a:t>
            </a:r>
            <a:r>
              <a:rPr sz="2000" b="0" dirty="0" err="1">
                <a:solidFill>
                  <a:srgbClr val="CDC2E2"/>
                </a:solidFill>
                <a:latin typeface="Calibri"/>
              </a:rPr>
              <a:t>orge</a:t>
            </a:r>
            <a:r>
              <a:rPr sz="2000" b="0" dirty="0">
                <a:solidFill>
                  <a:srgbClr val="CDC2E2"/>
                </a:solidFill>
                <a:latin typeface="Calibri"/>
              </a:rPr>
              <a:t> Luis Gálvez Vallejo  ·  NCI · ANU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0C601-94DA-BCDC-8865-C51E65CB9543}"/>
              </a:ext>
            </a:extLst>
          </p:cNvPr>
          <p:cNvSpPr txBox="1"/>
          <p:nvPr/>
        </p:nvSpPr>
        <p:spPr>
          <a:xfrm>
            <a:off x="26305506" y="2561390"/>
            <a:ext cx="3960000" cy="1390243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ACOMO</a:t>
            </a:r>
            <a:r>
              <a:rPr sz="2400" b="0" dirty="0">
                <a:solidFill>
                  <a:srgbClr val="CDC2E2"/>
                </a:solidFill>
                <a:latin typeface="Calibri"/>
              </a:rPr>
              <a:t>
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 dirty="0">
                <a:solidFill>
                  <a:srgbClr val="CDC2E2"/>
                </a:solidFill>
                <a:latin typeface="Calibri"/>
              </a:rPr>
              <a:t>jorge.galvezvallejo@anu.edu.au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DD8F132-A0B2-5738-DDEF-1A8898AFFC54}"/>
              </a:ext>
            </a:extLst>
          </p:cNvPr>
          <p:cNvGrpSpPr/>
          <p:nvPr/>
        </p:nvGrpSpPr>
        <p:grpSpPr>
          <a:xfrm>
            <a:off x="1080000" y="5774630"/>
            <a:ext cx="12153400" cy="7507020"/>
            <a:chOff x="1080000" y="5724000"/>
            <a:chExt cx="8892000" cy="239467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0FC005-F886-5703-9515-BACF31A6FFE7}"/>
                </a:ext>
              </a:extLst>
            </p:cNvPr>
            <p:cNvSpPr/>
            <p:nvPr/>
          </p:nvSpPr>
          <p:spPr>
            <a:xfrm>
              <a:off x="1080000" y="5724000"/>
              <a:ext cx="8892000" cy="2313736"/>
            </a:xfrm>
            <a:prstGeom prst="rect">
              <a:avLst/>
            </a:prstGeom>
            <a:solidFill>
              <a:srgbClr val="F3F0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8D9C89-5D70-28D1-24CE-618C1608589C}"/>
                </a:ext>
              </a:extLst>
            </p:cNvPr>
            <p:cNvSpPr txBox="1"/>
            <p:nvPr/>
          </p:nvSpPr>
          <p:spPr>
            <a:xfrm>
              <a:off x="1296000" y="5785906"/>
              <a:ext cx="8460000" cy="175649"/>
            </a:xfrm>
            <a:prstGeom prst="rect">
              <a:avLst/>
            </a:prstGeom>
            <a:noFill/>
          </p:spPr>
          <p:txBody>
            <a:bodyPr wrap="square" lIns="72000" tIns="36000" rIns="72000" bIns="360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400"/>
                </a:spcAft>
              </a:pPr>
              <a:r>
                <a:rPr lang="en-US" sz="3200" b="1" dirty="0">
                  <a:solidFill>
                    <a:srgbClr val="503874"/>
                  </a:solidFill>
                  <a:latin typeface="Calibri"/>
                </a:rPr>
                <a:t>Modern multi-GPU enabled hydrodynamics platform</a:t>
              </a:r>
              <a:r>
                <a:rPr sz="3200" b="1" dirty="0">
                  <a:solidFill>
                    <a:srgbClr val="503874"/>
                  </a:solidFill>
                  <a:latin typeface="Calibri"/>
                </a:rPr>
                <a:t>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3300374-4113-7CC6-FD43-8373C6A1D2A2}"/>
                </a:ext>
              </a:extLst>
            </p:cNvPr>
            <p:cNvSpPr txBox="1"/>
            <p:nvPr/>
          </p:nvSpPr>
          <p:spPr>
            <a:xfrm>
              <a:off x="1332000" y="5958450"/>
              <a:ext cx="8460000" cy="2160223"/>
            </a:xfrm>
            <a:prstGeom prst="rect">
              <a:avLst/>
            </a:prstGeom>
            <a:noFill/>
          </p:spPr>
          <p:txBody>
            <a:bodyPr wrap="square" lIns="72000" tIns="36000" rIns="72000" bIns="36000" anchor="t">
              <a:spAutoFit/>
            </a:bodyPr>
            <a:lstStyle/>
            <a:p>
              <a:pPr marL="285750" indent="-285750" algn="l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800" b="0" dirty="0">
                  <a:solidFill>
                    <a:srgbClr val="1C1A22"/>
                  </a:solidFill>
                  <a:latin typeface="Calibri"/>
                </a:rPr>
                <a:t>2D Barotropic using structured and unstructured (triangular) grids</a:t>
              </a:r>
              <a:r>
                <a:rPr sz="2800" b="0" dirty="0">
                  <a:solidFill>
                    <a:srgbClr val="1C1A22"/>
                  </a:solidFill>
                  <a:latin typeface="Calibri"/>
                </a:rPr>
                <a:t>.</a:t>
              </a:r>
              <a:endParaRPr lang="en-US" sz="2800" b="0" dirty="0">
                <a:solidFill>
                  <a:srgbClr val="1C1A22"/>
                </a:solidFill>
                <a:latin typeface="Calibri"/>
              </a:endParaRPr>
            </a:p>
            <a:p>
              <a:pPr marL="742950" lvl="1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HLL(C) structured fluxes algorithm</a:t>
              </a:r>
            </a:p>
            <a:p>
              <a:pPr marL="742950" lvl="1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b="0" dirty="0">
                  <a:solidFill>
                    <a:srgbClr val="1C1A22"/>
                  </a:solidFill>
                  <a:latin typeface="Calibri"/>
                </a:rPr>
                <a:t>KNP </a:t>
              </a: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central upwind fluxes algorithm</a:t>
              </a:r>
            </a:p>
            <a:p>
              <a:pPr marL="742950" lvl="1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b="0" dirty="0">
                  <a:solidFill>
                    <a:srgbClr val="1C1A22"/>
                  </a:solidFill>
                  <a:latin typeface="Calibri"/>
                </a:rPr>
                <a:t>A</a:t>
              </a: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daptive and constant time stepping </a:t>
              </a:r>
            </a:p>
            <a:p>
              <a:pPr marL="742950" lvl="1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800" b="0" dirty="0">
                  <a:solidFill>
                    <a:srgbClr val="1C1A22"/>
                  </a:solidFill>
                  <a:latin typeface="Calibri"/>
                </a:rPr>
                <a:t>Strong stability preserving RK2 (more to come!)</a:t>
              </a:r>
            </a:p>
            <a:p>
              <a:pPr marL="285750" indent="-285750" algn="l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Stacked shallow water equations for 3D physics (structured &amp; unstructured)</a:t>
              </a:r>
            </a:p>
            <a:p>
              <a:pPr marL="742950" lvl="1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Vertical mixing (PP, KPP, kappa-epsilon)</a:t>
              </a:r>
            </a:p>
            <a:p>
              <a:pPr marL="742950" lvl="1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Horizontal mixing</a:t>
              </a:r>
            </a:p>
            <a:p>
              <a:pPr marL="1200150" lvl="2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Structured grids: </a:t>
              </a:r>
              <a:r>
                <a:rPr lang="en-AU" sz="2800" dirty="0" err="1">
                  <a:solidFill>
                    <a:srgbClr val="1C1A22"/>
                  </a:solidFill>
                  <a:latin typeface="Calibri"/>
                </a:rPr>
                <a:t>Smagorinsky</a:t>
              </a: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, biharmonic</a:t>
              </a:r>
            </a:p>
            <a:p>
              <a:pPr marL="1200150" lvl="2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Unstructured grids: </a:t>
              </a:r>
              <a:r>
                <a:rPr lang="en-AU" sz="2800" dirty="0" err="1">
                  <a:solidFill>
                    <a:srgbClr val="1C1A22"/>
                  </a:solidFill>
                  <a:latin typeface="Calibri"/>
                </a:rPr>
                <a:t>Smagorinsky</a:t>
              </a:r>
              <a:endParaRPr lang="en-AU" sz="2800" dirty="0">
                <a:solidFill>
                  <a:srgbClr val="1C1A22"/>
                </a:solidFill>
                <a:latin typeface="Calibri"/>
              </a:endParaRPr>
            </a:p>
            <a:p>
              <a:pPr marL="742950" lvl="1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Tracers: Salt, Heat, Sediment (advected with PPM)</a:t>
              </a:r>
            </a:p>
            <a:p>
              <a:pPr marL="742950" lvl="1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Generalized Vertical Coordinate support via remap/</a:t>
              </a:r>
              <a:r>
                <a:rPr lang="en-AU" sz="2800" dirty="0" err="1">
                  <a:solidFill>
                    <a:srgbClr val="1C1A22"/>
                  </a:solidFill>
                  <a:latin typeface="Calibri"/>
                </a:rPr>
                <a:t>regrid</a:t>
              </a:r>
              <a:endParaRPr lang="en-AU" sz="2800" dirty="0">
                <a:solidFill>
                  <a:srgbClr val="1C1A22"/>
                </a:solidFill>
                <a:latin typeface="Calibri"/>
              </a:endParaRPr>
            </a:p>
            <a:p>
              <a:pPr marL="1200150" lvl="2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Sigma, z*, </a:t>
              </a:r>
              <a:r>
                <a:rPr lang="en-AU" sz="2800" dirty="0" err="1">
                  <a:solidFill>
                    <a:srgbClr val="1C1A22"/>
                  </a:solidFill>
                  <a:latin typeface="Calibri"/>
                </a:rPr>
                <a:t>hybdrid</a:t>
              </a:r>
              <a:r>
                <a:rPr lang="en-AU" sz="2800" dirty="0">
                  <a:solidFill>
                    <a:srgbClr val="1C1A22"/>
                  </a:solidFill>
                  <a:latin typeface="Calibri"/>
                </a:rPr>
                <a:t> z/sigma</a:t>
              </a:r>
            </a:p>
            <a:p>
              <a:pPr marL="285750" indent="-285750" algn="l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endParaRPr sz="2800" b="0" dirty="0">
                <a:solidFill>
                  <a:srgbClr val="1C1A22"/>
                </a:solidFill>
                <a:latin typeface="Calibri"/>
              </a:endParaRPr>
            </a:p>
          </p:txBody>
        </p:sp>
      </p:grpSp>
      <p:pic>
        <p:nvPicPr>
          <p:cNvPr id="20" name="Picture 19" descr="fig_code.png">
            <a:extLst>
              <a:ext uri="{FF2B5EF4-FFF2-40B4-BE49-F238E27FC236}">
                <a16:creationId xmlns:a16="http://schemas.microsoft.com/office/drawing/2014/main" id="{4FBA62B6-4F71-675C-7BFE-417837A80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998" y="34195697"/>
            <a:ext cx="13251202" cy="6711872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0A12B00D-2290-807D-541E-F68082DD5B02}"/>
              </a:ext>
            </a:extLst>
          </p:cNvPr>
          <p:cNvSpPr/>
          <p:nvPr/>
        </p:nvSpPr>
        <p:spPr>
          <a:xfrm>
            <a:off x="0" y="41246710"/>
            <a:ext cx="30275999" cy="155729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426B04-B809-04C6-49A4-B6890BB75324}"/>
              </a:ext>
            </a:extLst>
          </p:cNvPr>
          <p:cNvSpPr txBox="1"/>
          <p:nvPr/>
        </p:nvSpPr>
        <p:spPr>
          <a:xfrm>
            <a:off x="22320000" y="41760000"/>
            <a:ext cx="7200000" cy="444793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2400" b="1" dirty="0">
                <a:solidFill>
                  <a:srgbClr val="1C1A22"/>
                </a:solidFill>
                <a:latin typeface="Calibri"/>
              </a:rPr>
              <a:t>Jorge L. Gálvez Vallejo · NCI · ANU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B0AF961-68AB-1CA3-2F8F-5F0126B63585}"/>
              </a:ext>
            </a:extLst>
          </p:cNvPr>
          <p:cNvGrpSpPr/>
          <p:nvPr/>
        </p:nvGrpSpPr>
        <p:grpSpPr>
          <a:xfrm>
            <a:off x="13577828" y="5794873"/>
            <a:ext cx="6830803" cy="3247528"/>
            <a:chOff x="-10509094" y="10195512"/>
            <a:chExt cx="8892000" cy="2306237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46BE9F3-F4D5-0A8A-9B1E-F0D3EFCC8B18}"/>
                </a:ext>
              </a:extLst>
            </p:cNvPr>
            <p:cNvSpPr/>
            <p:nvPr/>
          </p:nvSpPr>
          <p:spPr>
            <a:xfrm>
              <a:off x="-10509094" y="10195512"/>
              <a:ext cx="8892000" cy="2306237"/>
            </a:xfrm>
            <a:prstGeom prst="rect">
              <a:avLst/>
            </a:prstGeom>
            <a:solidFill>
              <a:srgbClr val="F3F0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A6F8DE5-FA97-51F8-8D4A-59AA00F3C6A7}"/>
                </a:ext>
              </a:extLst>
            </p:cNvPr>
            <p:cNvSpPr txBox="1"/>
            <p:nvPr/>
          </p:nvSpPr>
          <p:spPr>
            <a:xfrm>
              <a:off x="-10293092" y="10297033"/>
              <a:ext cx="8460000" cy="314409"/>
            </a:xfrm>
            <a:prstGeom prst="rect">
              <a:avLst/>
            </a:prstGeom>
            <a:noFill/>
          </p:spPr>
          <p:txBody>
            <a:bodyPr wrap="square" lIns="72000" tIns="36000" rIns="72000" bIns="360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400"/>
                </a:spcAft>
              </a:pPr>
              <a:r>
                <a:rPr lang="en-US" sz="2800" b="1" dirty="0">
                  <a:solidFill>
                    <a:srgbClr val="503874"/>
                  </a:solidFill>
                  <a:latin typeface="Calibri"/>
                </a:rPr>
                <a:t>Scalable and portable</a:t>
              </a:r>
              <a:r>
                <a:rPr sz="2800" b="1" dirty="0">
                  <a:solidFill>
                    <a:srgbClr val="503874"/>
                  </a:solidFill>
                  <a:latin typeface="Calibri"/>
                </a:rPr>
                <a:t>.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0D60311-C5C4-8A09-6EC0-F0C98EAF0488}"/>
                </a:ext>
              </a:extLst>
            </p:cNvPr>
            <p:cNvSpPr txBox="1"/>
            <p:nvPr/>
          </p:nvSpPr>
          <p:spPr>
            <a:xfrm>
              <a:off x="-10293093" y="10879511"/>
              <a:ext cx="8460000" cy="1561089"/>
            </a:xfrm>
            <a:prstGeom prst="rect">
              <a:avLst/>
            </a:prstGeom>
            <a:noFill/>
          </p:spPr>
          <p:txBody>
            <a:bodyPr wrap="square" lIns="72000" tIns="36000" rIns="72000" bIns="36000" anchor="t">
              <a:spAutoFit/>
            </a:bodyPr>
            <a:lstStyle/>
            <a:p>
              <a:pPr marL="285750" indent="-285750" algn="l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400" b="0" dirty="0">
                  <a:solidFill>
                    <a:srgbClr val="1C1A22"/>
                  </a:solidFill>
                  <a:latin typeface="Calibri"/>
                </a:rPr>
                <a:t>Can execute on CPUs and multi vendor GPUs (NVIDIA, AMD, Intel)</a:t>
              </a:r>
            </a:p>
            <a:p>
              <a:pPr marL="285750" indent="-285750" algn="l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400" dirty="0">
                  <a:solidFill>
                    <a:srgbClr val="1C1A22"/>
                  </a:solidFill>
                  <a:latin typeface="Calibri"/>
                </a:rPr>
                <a:t>Can be built on your laptop and on a modern HPC system</a:t>
              </a:r>
            </a:p>
            <a:p>
              <a:pPr marL="742950" lvl="1" indent="-285750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AU" sz="2400" dirty="0">
                  <a:solidFill>
                    <a:srgbClr val="1C1A22"/>
                  </a:solidFill>
                  <a:latin typeface="Calibri"/>
                </a:rPr>
                <a:t>Mac, Windows, Linux!</a:t>
              </a:r>
            </a:p>
            <a:p>
              <a:pPr marL="285750" indent="-285750" algn="l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endParaRPr sz="2400" b="0" dirty="0">
                <a:solidFill>
                  <a:srgbClr val="1C1A22"/>
                </a:solidFill>
                <a:latin typeface="Calibri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D0BB17D-2B0C-1FE7-8AE8-F36E172C4C81}"/>
              </a:ext>
            </a:extLst>
          </p:cNvPr>
          <p:cNvGrpSpPr/>
          <p:nvPr/>
        </p:nvGrpSpPr>
        <p:grpSpPr>
          <a:xfrm>
            <a:off x="13577828" y="9614338"/>
            <a:ext cx="6830802" cy="3351981"/>
            <a:chOff x="1080000" y="5724000"/>
            <a:chExt cx="8892000" cy="241200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F4A9C86-E723-7931-8FC5-948BE40DB6C2}"/>
                </a:ext>
              </a:extLst>
            </p:cNvPr>
            <p:cNvSpPr/>
            <p:nvPr/>
          </p:nvSpPr>
          <p:spPr>
            <a:xfrm>
              <a:off x="1080000" y="5724000"/>
              <a:ext cx="8892000" cy="2412002"/>
            </a:xfrm>
            <a:prstGeom prst="rect">
              <a:avLst/>
            </a:prstGeom>
            <a:solidFill>
              <a:srgbClr val="F3F0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D8144B6-C3FC-A2E8-3400-75A743DC0752}"/>
                </a:ext>
              </a:extLst>
            </p:cNvPr>
            <p:cNvSpPr txBox="1"/>
            <p:nvPr/>
          </p:nvSpPr>
          <p:spPr>
            <a:xfrm>
              <a:off x="1296001" y="5789217"/>
              <a:ext cx="8460000" cy="328828"/>
            </a:xfrm>
            <a:prstGeom prst="rect">
              <a:avLst/>
            </a:prstGeom>
            <a:noFill/>
          </p:spPr>
          <p:txBody>
            <a:bodyPr wrap="square" lIns="72000" tIns="36000" rIns="72000" bIns="360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400"/>
                </a:spcAft>
              </a:pPr>
              <a:r>
                <a:rPr lang="en-US" sz="2800" b="1" dirty="0">
                  <a:solidFill>
                    <a:srgbClr val="503874"/>
                  </a:solidFill>
                  <a:latin typeface="Calibri"/>
                </a:rPr>
                <a:t>Native Python interface</a:t>
              </a:r>
              <a:endParaRPr sz="2800" b="1" dirty="0">
                <a:solidFill>
                  <a:srgbClr val="503874"/>
                </a:solidFill>
                <a:latin typeface="Calibri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432DE3-8336-3BA5-E6C7-C769303AD7F8}"/>
                </a:ext>
              </a:extLst>
            </p:cNvPr>
            <p:cNvSpPr txBox="1"/>
            <p:nvPr/>
          </p:nvSpPr>
          <p:spPr>
            <a:xfrm>
              <a:off x="1295999" y="6408000"/>
              <a:ext cx="8460000" cy="1497396"/>
            </a:xfrm>
            <a:prstGeom prst="rect">
              <a:avLst/>
            </a:prstGeom>
            <a:noFill/>
          </p:spPr>
          <p:txBody>
            <a:bodyPr wrap="square" lIns="72000" tIns="36000" rIns="72000" bIns="36000" anchor="t">
              <a:spAutoFit/>
            </a:bodyPr>
            <a:lstStyle/>
            <a:p>
              <a:pPr marL="285750" indent="-285750" algn="l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1C1A22"/>
                  </a:solidFill>
                  <a:latin typeface="Calibri"/>
                </a:rPr>
                <a:t>Entire simulation for CPU, GPU, and multi-GPU can be set from python </a:t>
              </a:r>
            </a:p>
            <a:p>
              <a:pPr marL="285750" indent="-285750" algn="l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1C1A22"/>
                  </a:solidFill>
                  <a:latin typeface="Calibri"/>
                </a:rPr>
                <a:t>C-interface makes Rakali callable from other C, C++, and Fortran programs</a:t>
              </a:r>
              <a:endParaRPr lang="en-AU" sz="2400" dirty="0">
                <a:solidFill>
                  <a:srgbClr val="1C1A22"/>
                </a:solidFill>
                <a:latin typeface="Calibri"/>
              </a:endParaRPr>
            </a:p>
            <a:p>
              <a:pPr marL="285750" indent="-285750" algn="l">
                <a:lnSpc>
                  <a:spcPct val="104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endParaRPr sz="2400" b="0" dirty="0">
                <a:solidFill>
                  <a:srgbClr val="1C1A22"/>
                </a:solidFill>
                <a:latin typeface="Calibri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04C1016D-72E9-CB24-F1D0-47C5225558C2}"/>
              </a:ext>
            </a:extLst>
          </p:cNvPr>
          <p:cNvSpPr txBox="1"/>
          <p:nvPr/>
        </p:nvSpPr>
        <p:spPr>
          <a:xfrm>
            <a:off x="1080000" y="4787989"/>
            <a:ext cx="12153400" cy="689410"/>
          </a:xfrm>
          <a:prstGeom prst="rect">
            <a:avLst/>
          </a:prstGeom>
          <a:solidFill>
            <a:srgbClr val="503874"/>
          </a:solidFill>
        </p:spPr>
        <p:txBody>
          <a:bodyPr wrap="square" lIns="72000" tIns="36000" rIns="72000" bIns="360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4000" b="1" dirty="0">
                <a:solidFill>
                  <a:srgbClr val="FFFFFF"/>
                </a:solidFill>
                <a:latin typeface="Consolas"/>
              </a:rPr>
              <a:t>What is Rakali?</a:t>
            </a:r>
            <a:endParaRPr sz="4000" b="1" dirty="0">
              <a:solidFill>
                <a:srgbClr val="FFFFFF"/>
              </a:solidFill>
              <a:latin typeface="Consolas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91ABEA48-A886-1D82-8CC9-422C27306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3059" y="5678577"/>
            <a:ext cx="8014230" cy="774709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82E4A6A9-987C-C4BB-C095-6711C383C7B7}"/>
              </a:ext>
            </a:extLst>
          </p:cNvPr>
          <p:cNvSpPr txBox="1"/>
          <p:nvPr/>
        </p:nvSpPr>
        <p:spPr>
          <a:xfrm>
            <a:off x="1080000" y="14014517"/>
            <a:ext cx="12153400" cy="689410"/>
          </a:xfrm>
          <a:prstGeom prst="rect">
            <a:avLst/>
          </a:prstGeom>
          <a:solidFill>
            <a:srgbClr val="503874"/>
          </a:solidFill>
        </p:spPr>
        <p:txBody>
          <a:bodyPr wrap="square" lIns="72000" tIns="36000" rIns="72000" bIns="360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4000" b="1" dirty="0">
                <a:solidFill>
                  <a:srgbClr val="FFFFFF"/>
                </a:solidFill>
                <a:latin typeface="Consolas"/>
              </a:rPr>
              <a:t>Can I flood Lakes Entrance? </a:t>
            </a:r>
            <a:endParaRPr sz="4000" b="1" dirty="0">
              <a:solidFill>
                <a:srgbClr val="FFFFFF"/>
              </a:solidFill>
              <a:latin typeface="Consolas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D15BA94C-1ABD-4029-5ECB-52269E68E6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2" t="7115" r="2930" b="5632"/>
          <a:stretch>
            <a:fillRect/>
          </a:stretch>
        </p:blipFill>
        <p:spPr>
          <a:xfrm>
            <a:off x="1079998" y="15493333"/>
            <a:ext cx="12926241" cy="9249665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9F444BF-555A-1524-21EF-D142DCDAB172}"/>
              </a:ext>
            </a:extLst>
          </p:cNvPr>
          <p:cNvCxnSpPr>
            <a:cxnSpLocks/>
          </p:cNvCxnSpPr>
          <p:nvPr/>
        </p:nvCxnSpPr>
        <p:spPr>
          <a:xfrm>
            <a:off x="1080000" y="33732968"/>
            <a:ext cx="27687289" cy="5399"/>
          </a:xfrm>
          <a:prstGeom prst="line">
            <a:avLst/>
          </a:prstGeom>
          <a:ln>
            <a:solidFill>
              <a:srgbClr val="503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BD7BBDB7-3321-1F49-D482-9A9A080D8F08}"/>
              </a:ext>
            </a:extLst>
          </p:cNvPr>
          <p:cNvSpPr txBox="1"/>
          <p:nvPr/>
        </p:nvSpPr>
        <p:spPr>
          <a:xfrm>
            <a:off x="1080000" y="33048957"/>
            <a:ext cx="12153400" cy="689410"/>
          </a:xfrm>
          <a:prstGeom prst="rect">
            <a:avLst/>
          </a:prstGeom>
          <a:solidFill>
            <a:srgbClr val="503874"/>
          </a:solidFill>
        </p:spPr>
        <p:txBody>
          <a:bodyPr wrap="square" lIns="72000" tIns="36000" rIns="72000" bIns="360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4000" b="1" dirty="0">
                <a:solidFill>
                  <a:srgbClr val="FFFFFF"/>
                </a:solidFill>
                <a:latin typeface="Consolas"/>
              </a:rPr>
              <a:t>Usability </a:t>
            </a:r>
            <a:r>
              <a:rPr lang="en-US" sz="4000" b="1">
                <a:solidFill>
                  <a:srgbClr val="FFFFFF"/>
                </a:solidFill>
                <a:latin typeface="Consolas"/>
              </a:rPr>
              <a:t>and Potential</a:t>
            </a:r>
            <a:endParaRPr sz="4000" b="1" dirty="0">
              <a:solidFill>
                <a:srgbClr val="FFFFFF"/>
              </a:solidFill>
              <a:latin typeface="Consolas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C364630F-0E51-1F64-AE4A-0DF9C0826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1659" y="35456943"/>
            <a:ext cx="8731691" cy="4368481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90BFE444-0573-0C9F-1D48-9352773CA3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26350" y="34683477"/>
            <a:ext cx="6291839" cy="5701979"/>
          </a:xfrm>
          <a:prstGeom prst="rect">
            <a:avLst/>
          </a:prstGeom>
        </p:spPr>
      </p:pic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620EC9A-AC93-E996-42CF-33B0C6A2D1C5}"/>
              </a:ext>
            </a:extLst>
          </p:cNvPr>
          <p:cNvCxnSpPr>
            <a:cxnSpLocks/>
          </p:cNvCxnSpPr>
          <p:nvPr/>
        </p:nvCxnSpPr>
        <p:spPr>
          <a:xfrm>
            <a:off x="1079999" y="14704809"/>
            <a:ext cx="27687289" cy="5399"/>
          </a:xfrm>
          <a:prstGeom prst="line">
            <a:avLst/>
          </a:prstGeom>
          <a:ln>
            <a:solidFill>
              <a:srgbClr val="503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B920DB5-9C70-9187-B33B-64FBC8BB1BAD}"/>
              </a:ext>
            </a:extLst>
          </p:cNvPr>
          <p:cNvCxnSpPr>
            <a:cxnSpLocks/>
          </p:cNvCxnSpPr>
          <p:nvPr/>
        </p:nvCxnSpPr>
        <p:spPr>
          <a:xfrm>
            <a:off x="1079998" y="5489287"/>
            <a:ext cx="27687289" cy="5399"/>
          </a:xfrm>
          <a:prstGeom prst="line">
            <a:avLst/>
          </a:prstGeom>
          <a:ln>
            <a:solidFill>
              <a:srgbClr val="503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E839B601-7651-0186-5B51-9996504125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4042" y="15528844"/>
            <a:ext cx="14388700" cy="5312751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7814351A-1016-6C78-7320-92C30F313A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95637" y="21456935"/>
            <a:ext cx="11048725" cy="1181668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B23F5F4A-709D-5DA8-53E6-6D8E0795D6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5224" y="25049889"/>
            <a:ext cx="14068259" cy="6414147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E65809B9-6CB6-87F4-9525-31B38EE981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31272" y="40919741"/>
            <a:ext cx="3843624" cy="216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62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717</Words>
  <Application>Microsoft Office PowerPoint</Application>
  <PresentationFormat>Custom</PresentationFormat>
  <Paragraphs>62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Galvez Vallejo</cp:lastModifiedBy>
  <cp:revision>4</cp:revision>
  <dcterms:created xsi:type="dcterms:W3CDTF">2013-01-27T09:14:16Z</dcterms:created>
  <dcterms:modified xsi:type="dcterms:W3CDTF">2026-06-24T06:24:24Z</dcterms:modified>
  <cp:category/>
</cp:coreProperties>
</file>